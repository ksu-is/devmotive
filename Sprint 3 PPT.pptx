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2"/>
  </p:normalViewPr>
  <p:slideViewPr>
    <p:cSldViewPr snapToGrid="0" snapToObjects="1">
      <p:cViewPr varScale="1">
        <p:scale>
          <a:sx n="106" d="100"/>
          <a:sy n="106" d="100"/>
        </p:scale>
        <p:origin x="7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5/1/26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80923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5/1/26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44489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5/1/26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810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5/1/26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05621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5/1/26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5112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5/1/26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5150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5/1/26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57484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5/1/26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3945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5/1/26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1965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5/1/26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35309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5/1/26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597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5/1/26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532921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ksu-is/DevMotive"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background with squares and lines&#10;&#10;Description automatically generated">
            <a:extLst>
              <a:ext uri="{FF2B5EF4-FFF2-40B4-BE49-F238E27FC236}">
                <a16:creationId xmlns:a16="http://schemas.microsoft.com/office/drawing/2014/main" id="{7D779322-6BA2-C75F-D53A-BC2C8AB3310B}"/>
              </a:ext>
            </a:extLst>
          </p:cNvPr>
          <p:cNvPicPr>
            <a:picLocks noChangeAspect="1"/>
          </p:cNvPicPr>
          <p:nvPr/>
        </p:nvPicPr>
        <p:blipFill>
          <a:blip r:embed="rId2"/>
          <a:srcRect t="17752" b="4574"/>
          <a:stretch>
            <a:fillRect/>
          </a:stretch>
        </p:blipFill>
        <p:spPr>
          <a:xfrm>
            <a:off x="0" y="336894"/>
            <a:ext cx="8829205" cy="6857989"/>
          </a:xfrm>
          <a:prstGeom prst="rect">
            <a:avLst/>
          </a:prstGeom>
        </p:spPr>
      </p:pic>
      <p:sp>
        <p:nvSpPr>
          <p:cNvPr id="19" name="Rectangle 18">
            <a:extLst>
              <a:ext uri="{FF2B5EF4-FFF2-40B4-BE49-F238E27FC236}">
                <a16:creationId xmlns:a16="http://schemas.microsoft.com/office/drawing/2014/main" id="{F7C2A816-955C-4079-AAAB-066EBD441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 y="0"/>
            <a:ext cx="7706130" cy="6858000"/>
          </a:xfrm>
          <a:prstGeom prst="rect">
            <a:avLst/>
          </a:prstGeom>
          <a:gradFill flip="none" rotWithShape="1">
            <a:gsLst>
              <a:gs pos="2000">
                <a:schemeClr val="bg1">
                  <a:alpha val="0"/>
                </a:schemeClr>
              </a:gs>
              <a:gs pos="59000">
                <a:schemeClr val="bg1">
                  <a:alpha val="36000"/>
                </a:schemeClr>
              </a:gs>
              <a:gs pos="99000">
                <a:schemeClr val="bg1">
                  <a:alpha val="5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A7B43-F923-E84C-A06B-89F25BFC492F}"/>
              </a:ext>
            </a:extLst>
          </p:cNvPr>
          <p:cNvSpPr>
            <a:spLocks noGrp="1"/>
          </p:cNvSpPr>
          <p:nvPr>
            <p:ph type="ctrTitle"/>
          </p:nvPr>
        </p:nvSpPr>
        <p:spPr>
          <a:xfrm>
            <a:off x="640080" y="914400"/>
            <a:ext cx="5057775" cy="3427867"/>
          </a:xfrm>
        </p:spPr>
        <p:txBody>
          <a:bodyPr anchor="t">
            <a:normAutofit/>
          </a:bodyPr>
          <a:lstStyle/>
          <a:p>
            <a:pPr>
              <a:lnSpc>
                <a:spcPct val="90000"/>
              </a:lnSpc>
            </a:pPr>
            <a:r>
              <a:rPr lang="en-US" sz="3300" b="0" dirty="0">
                <a:solidFill>
                  <a:srgbClr val="FFFFFF"/>
                </a:solidFill>
                <a:latin typeface="Franklin Gothic Medium" panose="020B0603020102020204" pitchFamily="34" charset="0"/>
              </a:rPr>
              <a:t>DEVMOTIVE</a:t>
            </a:r>
            <a:r>
              <a:rPr lang="en-US" sz="3300" dirty="0">
                <a:solidFill>
                  <a:srgbClr val="FFFFFF"/>
                </a:solidFill>
              </a:rPr>
              <a:t> Web Application by: Delanie Pacheco </a:t>
            </a:r>
            <a:br>
              <a:rPr lang="en-US" sz="3300" dirty="0">
                <a:solidFill>
                  <a:srgbClr val="FFFFFF"/>
                </a:solidFill>
              </a:rPr>
            </a:br>
            <a:r>
              <a:rPr lang="en-US" sz="3300" dirty="0">
                <a:solidFill>
                  <a:srgbClr val="FFFFFF"/>
                </a:solidFill>
                <a:hlinkClick r:id="rId3"/>
              </a:rPr>
              <a:t>https://github.com/ksu-is/DevMotive</a:t>
            </a:r>
            <a:endParaRPr lang="en-US" sz="3300" dirty="0">
              <a:solidFill>
                <a:srgbClr val="FFFFFF"/>
              </a:solidFill>
            </a:endParaRPr>
          </a:p>
        </p:txBody>
      </p:sp>
      <p:sp>
        <p:nvSpPr>
          <p:cNvPr id="3" name="Subtitle 2">
            <a:extLst>
              <a:ext uri="{FF2B5EF4-FFF2-40B4-BE49-F238E27FC236}">
                <a16:creationId xmlns:a16="http://schemas.microsoft.com/office/drawing/2014/main" id="{4E15D96F-B8F3-EA49-8DA6-7D25A4D05A11}"/>
              </a:ext>
            </a:extLst>
          </p:cNvPr>
          <p:cNvSpPr>
            <a:spLocks noGrp="1"/>
          </p:cNvSpPr>
          <p:nvPr>
            <p:ph type="subTitle" idx="1"/>
          </p:nvPr>
        </p:nvSpPr>
        <p:spPr>
          <a:xfrm>
            <a:off x="640080" y="4919773"/>
            <a:ext cx="5455920" cy="1352285"/>
          </a:xfrm>
        </p:spPr>
        <p:txBody>
          <a:bodyPr anchor="t">
            <a:noAutofit/>
          </a:bodyPr>
          <a:lstStyle/>
          <a:p>
            <a:pPr>
              <a:lnSpc>
                <a:spcPct val="120000"/>
              </a:lnSpc>
            </a:pPr>
            <a:r>
              <a:rPr lang="en-US" sz="1200" dirty="0">
                <a:solidFill>
                  <a:srgbClr val="FFFFFF"/>
                </a:solidFill>
              </a:rPr>
              <a:t>As a student first learning how to code, it can be intimidating. </a:t>
            </a:r>
            <a:r>
              <a:rPr lang="en-US" sz="1200" dirty="0" err="1">
                <a:solidFill>
                  <a:srgbClr val="FFFFFF"/>
                </a:solidFill>
              </a:rPr>
              <a:t>Devmotive</a:t>
            </a:r>
            <a:r>
              <a:rPr lang="en-US" sz="1200" dirty="0">
                <a:solidFill>
                  <a:srgbClr val="FFFFFF"/>
                </a:solidFill>
              </a:rPr>
              <a:t> is here to help you stay motivated with messages and words of advice any beginner needs. You can also find inspiring quotes and challenges you can try to keep you on track for your coding career with the click of a button!</a:t>
            </a:r>
          </a:p>
        </p:txBody>
      </p:sp>
      <p:pic>
        <p:nvPicPr>
          <p:cNvPr id="8" name="Picture 7" descr="A screenshot of a chat&#10;&#10;Description automatically generated">
            <a:extLst>
              <a:ext uri="{FF2B5EF4-FFF2-40B4-BE49-F238E27FC236}">
                <a16:creationId xmlns:a16="http://schemas.microsoft.com/office/drawing/2014/main" id="{13CBF64B-0C4D-A14A-A968-9D45BDEBB2D5}"/>
              </a:ext>
            </a:extLst>
          </p:cNvPr>
          <p:cNvPicPr>
            <a:picLocks noChangeAspect="1"/>
          </p:cNvPicPr>
          <p:nvPr/>
        </p:nvPicPr>
        <p:blipFill rotWithShape="1">
          <a:blip r:embed="rId4"/>
          <a:srcRect l="10750" t="-1" r="9813" b="-3"/>
          <a:stretch/>
        </p:blipFill>
        <p:spPr>
          <a:xfrm>
            <a:off x="7534510" y="0"/>
            <a:ext cx="4524139" cy="2288905"/>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11CC9E6C-7EB3-4A40-BC4A-9F5F54553D53}"/>
              </a:ext>
            </a:extLst>
          </p:cNvPr>
          <p:cNvPicPr>
            <a:picLocks noChangeAspect="1"/>
          </p:cNvPicPr>
          <p:nvPr/>
        </p:nvPicPr>
        <p:blipFill rotWithShape="1">
          <a:blip r:embed="rId5"/>
          <a:srcRect r="14464" b="2"/>
          <a:stretch/>
        </p:blipFill>
        <p:spPr>
          <a:xfrm>
            <a:off x="7534511" y="2288908"/>
            <a:ext cx="4524138" cy="2282116"/>
          </a:xfrm>
          <a:prstGeom prst="rect">
            <a:avLst/>
          </a:prstGeom>
        </p:spPr>
      </p:pic>
      <p:cxnSp>
        <p:nvCxnSpPr>
          <p:cNvPr id="21" name="Straight Connector 20">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icture 11" descr="A screenshot of a computer&#10;&#10;Description automatically generated">
            <a:extLst>
              <a:ext uri="{FF2B5EF4-FFF2-40B4-BE49-F238E27FC236}">
                <a16:creationId xmlns:a16="http://schemas.microsoft.com/office/drawing/2014/main" id="{741A6612-8AD9-CF42-91E7-A363ACF5EECE}"/>
              </a:ext>
            </a:extLst>
          </p:cNvPr>
          <p:cNvPicPr>
            <a:picLocks noChangeAspect="1"/>
          </p:cNvPicPr>
          <p:nvPr/>
        </p:nvPicPr>
        <p:blipFill rotWithShape="1">
          <a:blip r:embed="rId6"/>
          <a:srcRect l="200" r="16753"/>
          <a:stretch/>
        </p:blipFill>
        <p:spPr>
          <a:xfrm>
            <a:off x="7534512" y="4567765"/>
            <a:ext cx="4524137" cy="2293493"/>
          </a:xfrm>
          <a:prstGeom prst="rect">
            <a:avLst/>
          </a:prstGeom>
        </p:spPr>
      </p:pic>
    </p:spTree>
    <p:extLst>
      <p:ext uri="{BB962C8B-B14F-4D97-AF65-F5344CB8AC3E}">
        <p14:creationId xmlns:p14="http://schemas.microsoft.com/office/powerpoint/2010/main" val="20427747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19</TotalTime>
  <Words>76</Words>
  <Application>Microsoft Macintosh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Franklin Gothic Medium</vt:lpstr>
      <vt:lpstr>Grandview Display</vt:lpstr>
      <vt:lpstr>DashVTI</vt:lpstr>
      <vt:lpstr>DEVMOTIVE Web Application by: Delanie Pacheco  https://github.com/ksu-is/DevMotive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DEVMOTIVE Web Application by: Delanie Pacheco  https://github.com/ksu-is/DevMotive</dc:title>
  <dc:creator>Pacheco Quintana, Delanie</dc:creator>
  <cp:lastModifiedBy>Pacheco Quintana, Delanie</cp:lastModifiedBy>
  <cp:revision>2</cp:revision>
  <dcterms:created xsi:type="dcterms:W3CDTF">2026-05-01T17:59:52Z</dcterms:created>
  <dcterms:modified xsi:type="dcterms:W3CDTF">2026-05-01T19:59:58Z</dcterms:modified>
</cp:coreProperties>
</file>